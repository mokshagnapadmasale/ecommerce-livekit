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4"/>
  </p:notesMasterIdLst>
  <p:sldIdLst>
    <p:sldId id="256" r:id="rId2"/>
    <p:sldId id="714" r:id="rId3"/>
    <p:sldId id="674" r:id="rId4"/>
    <p:sldId id="715" r:id="rId5"/>
    <p:sldId id="718" r:id="rId6"/>
    <p:sldId id="716" r:id="rId7"/>
    <p:sldId id="717" r:id="rId8"/>
    <p:sldId id="719" r:id="rId9"/>
    <p:sldId id="720" r:id="rId10"/>
    <p:sldId id="676" r:id="rId11"/>
    <p:sldId id="711" r:id="rId12"/>
    <p:sldId id="30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13-01-2026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Real-Time E-commerce Voice using LiveKit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IN" dirty="0"/>
              <a:t>🧭 Presentation Agenda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518557"/>
            <a:ext cx="5232059" cy="4572000"/>
          </a:xfrm>
        </p:spPr>
        <p:txBody>
          <a:bodyPr>
            <a:normAutofit/>
          </a:bodyPr>
          <a:lstStyle/>
          <a:p>
            <a:r>
              <a:rPr lang="en-IN" sz="2500" dirty="0">
                <a:latin typeface="Franklin Gothic Medium" panose="020B0603020102020204" pitchFamily="34" charset="0"/>
              </a:rPr>
              <a:t>Introduction &amp; Project Motivation</a:t>
            </a:r>
          </a:p>
          <a:p>
            <a:r>
              <a:rPr lang="en-IN" sz="2500" dirty="0">
                <a:latin typeface="Franklin Gothic Medium" panose="020B0603020102020204" pitchFamily="34" charset="0"/>
              </a:rPr>
              <a:t>Problem Statement in E-Commerce Support</a:t>
            </a:r>
          </a:p>
          <a:p>
            <a:r>
              <a:rPr lang="en-IN" sz="2500" dirty="0">
                <a:latin typeface="Franklin Gothic Medium" panose="020B0603020102020204" pitchFamily="34" charset="0"/>
              </a:rPr>
              <a:t>Why Voice-Based AI Systems</a:t>
            </a:r>
          </a:p>
          <a:p>
            <a:r>
              <a:rPr lang="en-IN" sz="2500" dirty="0">
                <a:latin typeface="Franklin Gothic Medium" panose="020B0603020102020204" pitchFamily="34" charset="0"/>
              </a:rPr>
              <a:t>Proposed E-Commerce Voicebot Solution</a:t>
            </a:r>
          </a:p>
          <a:p>
            <a:r>
              <a:rPr lang="en-IN" sz="2500" dirty="0">
                <a:latin typeface="Franklin Gothic Medium" panose="020B0603020102020204" pitchFamily="34" charset="0"/>
              </a:rPr>
              <a:t>Real-Time Audio &amp; WebRTC (LiveKit)</a:t>
            </a:r>
          </a:p>
          <a:p>
            <a:r>
              <a:rPr lang="en-US" sz="2500" dirty="0">
                <a:latin typeface="Franklin Gothic Medium" panose="020B0603020102020204" pitchFamily="34" charset="0"/>
              </a:rPr>
              <a:t>AI Reasoning Layer (GPT-4o Realtime)</a:t>
            </a:r>
          </a:p>
          <a:p>
            <a:pPr>
              <a:buFont typeface="+mj-lt"/>
              <a:buAutoNum type="arabicPeriod"/>
            </a:pPr>
            <a:endParaRPr lang="en-IN" dirty="0"/>
          </a:p>
        </p:txBody>
      </p:sp>
      <p:sp>
        <p:nvSpPr>
          <p:cNvPr id="5" name="Content Placeholder 2">
            <a:extLst>
              <a:ext uri="{FF2B5EF4-FFF2-40B4-BE49-F238E27FC236}">
                <a16:creationId xmlns:a16="http://schemas.microsoft.com/office/drawing/2014/main" id="{010CFBCB-6A44-F3D6-68C1-802F7C601438}"/>
              </a:ext>
            </a:extLst>
          </p:cNvPr>
          <p:cNvSpPr txBox="1">
            <a:spLocks/>
          </p:cNvSpPr>
          <p:nvPr/>
        </p:nvSpPr>
        <p:spPr>
          <a:xfrm>
            <a:off x="6096000" y="1518557"/>
            <a:ext cx="5232059"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a:buFont typeface="+mj-lt"/>
              <a:buAutoNum type="arabicPeriod"/>
            </a:pPr>
            <a:endParaRPr lang="en-IN" dirty="0"/>
          </a:p>
        </p:txBody>
      </p:sp>
      <p:sp>
        <p:nvSpPr>
          <p:cNvPr id="6" name="Content Placeholder 2">
            <a:extLst>
              <a:ext uri="{FF2B5EF4-FFF2-40B4-BE49-F238E27FC236}">
                <a16:creationId xmlns:a16="http://schemas.microsoft.com/office/drawing/2014/main" id="{492C595E-EF66-D80A-4C63-CCC858C0D31A}"/>
              </a:ext>
            </a:extLst>
          </p:cNvPr>
          <p:cNvSpPr txBox="1">
            <a:spLocks/>
          </p:cNvSpPr>
          <p:nvPr/>
        </p:nvSpPr>
        <p:spPr>
          <a:xfrm>
            <a:off x="5910943" y="1518557"/>
            <a:ext cx="5232059"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500" dirty="0">
                <a:latin typeface="Franklin Gothic Medium" panose="020B0603020102020204" pitchFamily="34" charset="0"/>
              </a:rPr>
              <a:t>Tool-Based RAG using MCP</a:t>
            </a:r>
          </a:p>
          <a:p>
            <a:r>
              <a:rPr lang="en-IN" sz="2500" dirty="0">
                <a:latin typeface="Franklin Gothic Medium" panose="020B0603020102020204" pitchFamily="34" charset="0"/>
              </a:rPr>
              <a:t>Safety, Reliability &amp; User Experience</a:t>
            </a:r>
          </a:p>
          <a:p>
            <a:r>
              <a:rPr lang="en-US" sz="2500" dirty="0">
                <a:latin typeface="Franklin Gothic Medium" panose="020B0603020102020204" pitchFamily="34" charset="0"/>
              </a:rPr>
              <a:t>Limitations of the Current System</a:t>
            </a:r>
            <a:endParaRPr lang="en-IN" sz="2500" dirty="0">
              <a:latin typeface="Franklin Gothic Medium" panose="020B0603020102020204" pitchFamily="34" charset="0"/>
            </a:endParaRPr>
          </a:p>
          <a:p>
            <a:r>
              <a:rPr lang="en-IN" sz="2500" dirty="0">
                <a:latin typeface="Franklin Gothic Medium" panose="020B0603020102020204" pitchFamily="34" charset="0"/>
              </a:rPr>
              <a:t>Business Relevance &amp; Impact</a:t>
            </a:r>
          </a:p>
          <a:p>
            <a:r>
              <a:rPr lang="en-IN" sz="2500" dirty="0">
                <a:latin typeface="Franklin Gothic Medium" panose="020B0603020102020204" pitchFamily="34" charset="0"/>
              </a:rPr>
              <a:t>Conclusion &amp; Key Takeaways</a:t>
            </a:r>
            <a:endParaRPr lang="en-US" sz="2500" dirty="0">
              <a:latin typeface="Franklin Gothic Medium" panose="020B0603020102020204" pitchFamily="34" charset="0"/>
            </a:endParaRPr>
          </a:p>
          <a:p>
            <a:pPr>
              <a:buFont typeface="+mj-lt"/>
              <a:buAutoNum type="arabicPeriod"/>
            </a:pPr>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 1. Introduction &amp; Project Motivation</a:t>
            </a:r>
          </a:p>
        </p:txBody>
      </p:sp>
      <p:sp>
        <p:nvSpPr>
          <p:cNvPr id="8" name="Content Placeholder 7">
            <a:extLst>
              <a:ext uri="{FF2B5EF4-FFF2-40B4-BE49-F238E27FC236}">
                <a16:creationId xmlns:a16="http://schemas.microsoft.com/office/drawing/2014/main" id="{D5FECF71-59BA-C576-7695-BBD5E1A417CE}"/>
              </a:ext>
            </a:extLst>
          </p:cNvPr>
          <p:cNvSpPr>
            <a:spLocks noGrp="1"/>
          </p:cNvSpPr>
          <p:nvPr>
            <p:ph idx="1"/>
          </p:nvPr>
        </p:nvSpPr>
        <p:spPr/>
        <p:txBody>
          <a:bodyPr/>
          <a:lstStyle/>
          <a:p>
            <a:r>
              <a:rPr lang="en-US" dirty="0">
                <a:latin typeface="Franklin Gothic Medium" panose="020B0603020102020204" pitchFamily="34" charset="0"/>
              </a:rPr>
              <a:t>Voice is becoming the primary interface for digital customer support</a:t>
            </a:r>
          </a:p>
          <a:p>
            <a:r>
              <a:rPr lang="en-US" dirty="0">
                <a:latin typeface="Franklin Gothic Medium" panose="020B0603020102020204" pitchFamily="34" charset="0"/>
              </a:rPr>
              <a:t>Customers expect instant and natural interactions</a:t>
            </a:r>
          </a:p>
          <a:p>
            <a:r>
              <a:rPr lang="en-US" dirty="0">
                <a:latin typeface="Franklin Gothic Medium" panose="020B0603020102020204" pitchFamily="34" charset="0"/>
              </a:rPr>
              <a:t>Text chatbots lack emotional tone and speed</a:t>
            </a:r>
          </a:p>
          <a:p>
            <a:r>
              <a:rPr lang="en-US" dirty="0">
                <a:latin typeface="Franklin Gothic Medium" panose="020B0603020102020204" pitchFamily="34" charset="0"/>
              </a:rPr>
              <a:t>Human call centers are costly and hard to scale</a:t>
            </a:r>
          </a:p>
          <a:p>
            <a:r>
              <a:rPr lang="en-US" dirty="0">
                <a:latin typeface="Franklin Gothic Medium" panose="020B0603020102020204" pitchFamily="34" charset="0"/>
              </a:rPr>
              <a:t>AI voice agents can reduce support costs significantly</a:t>
            </a:r>
          </a:p>
          <a:p>
            <a:r>
              <a:rPr lang="en-US" dirty="0">
                <a:latin typeface="Franklin Gothic Medium" panose="020B0603020102020204" pitchFamily="34" charset="0"/>
              </a:rPr>
              <a:t>Real-time voice improves accessibility and user experience</a:t>
            </a:r>
          </a:p>
          <a:p>
            <a:r>
              <a:rPr lang="en-US" dirty="0">
                <a:latin typeface="Franklin Gothic Medium" panose="020B0603020102020204" pitchFamily="34" charset="0"/>
              </a:rPr>
              <a:t>This project explores how AI can replace basic support calls</a:t>
            </a:r>
            <a:endParaRPr lang="en-IN" dirty="0">
              <a:latin typeface="Franklin Gothic Medium" panose="020B060302010202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1C8D1-6526-4D08-2F36-11855729830C}"/>
              </a:ext>
            </a:extLst>
          </p:cNvPr>
          <p:cNvSpPr>
            <a:spLocks noGrp="1"/>
          </p:cNvSpPr>
          <p:nvPr>
            <p:ph type="title"/>
          </p:nvPr>
        </p:nvSpPr>
        <p:spPr>
          <a:xfrm>
            <a:off x="678883" y="797345"/>
            <a:ext cx="10834234" cy="612775"/>
          </a:xfrm>
        </p:spPr>
        <p:txBody>
          <a:bodyPr/>
          <a:lstStyle/>
          <a:p>
            <a:r>
              <a:rPr lang="en-IN" dirty="0"/>
              <a:t>🧭 2. Problem Statement in E-Commerce Support</a:t>
            </a:r>
          </a:p>
        </p:txBody>
      </p:sp>
      <p:sp>
        <p:nvSpPr>
          <p:cNvPr id="4" name="Rectangle 1">
            <a:extLst>
              <a:ext uri="{FF2B5EF4-FFF2-40B4-BE49-F238E27FC236}">
                <a16:creationId xmlns:a16="http://schemas.microsoft.com/office/drawing/2014/main" id="{02CFF5D1-B6D7-B8AE-D3F3-4798F02011E0}"/>
              </a:ext>
            </a:extLst>
          </p:cNvPr>
          <p:cNvSpPr>
            <a:spLocks noGrp="1" noChangeArrowheads="1"/>
          </p:cNvSpPr>
          <p:nvPr>
            <p:ph idx="1"/>
          </p:nvPr>
        </p:nvSpPr>
        <p:spPr bwMode="auto">
          <a:xfrm>
            <a:off x="678884" y="1908450"/>
            <a:ext cx="982352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Customers repeatedly ask about orders and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Return and refund queries create high 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Agents must check multiple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Delays reduce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Chatbots often give incorrect answers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Companies need reliable automation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Franklin Gothic Medium" panose="020B0603020102020204" pitchFamily="34" charset="0"/>
              </a:rPr>
              <a:t>Voice provides a natural interface</a:t>
            </a:r>
          </a:p>
        </p:txBody>
      </p:sp>
    </p:spTree>
    <p:extLst>
      <p:ext uri="{BB962C8B-B14F-4D97-AF65-F5344CB8AC3E}">
        <p14:creationId xmlns:p14="http://schemas.microsoft.com/office/powerpoint/2010/main" val="109634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72AF-5A74-A466-C393-8F85354C1B93}"/>
              </a:ext>
            </a:extLst>
          </p:cNvPr>
          <p:cNvSpPr>
            <a:spLocks noGrp="1"/>
          </p:cNvSpPr>
          <p:nvPr>
            <p:ph type="title"/>
          </p:nvPr>
        </p:nvSpPr>
        <p:spPr>
          <a:xfrm>
            <a:off x="482938" y="268044"/>
            <a:ext cx="5340919" cy="1226574"/>
          </a:xfrm>
        </p:spPr>
        <p:txBody>
          <a:bodyPr>
            <a:noAutofit/>
          </a:bodyPr>
          <a:lstStyle/>
          <a:p>
            <a:pPr algn="ctr"/>
            <a:r>
              <a:rPr lang="en-US" sz="3000" dirty="0"/>
              <a:t>🧭 3. Why Voice-Based AI Systems</a:t>
            </a:r>
            <a:endParaRPr lang="en-IN" sz="3000" dirty="0"/>
          </a:p>
        </p:txBody>
      </p:sp>
      <p:sp>
        <p:nvSpPr>
          <p:cNvPr id="3" name="Content Placeholder 2">
            <a:extLst>
              <a:ext uri="{FF2B5EF4-FFF2-40B4-BE49-F238E27FC236}">
                <a16:creationId xmlns:a16="http://schemas.microsoft.com/office/drawing/2014/main" id="{D468D260-8124-FA8D-255C-72151E1517CF}"/>
              </a:ext>
            </a:extLst>
          </p:cNvPr>
          <p:cNvSpPr>
            <a:spLocks noGrp="1"/>
          </p:cNvSpPr>
          <p:nvPr>
            <p:ph sz="half" idx="1"/>
          </p:nvPr>
        </p:nvSpPr>
        <p:spPr/>
        <p:txBody>
          <a:bodyPr/>
          <a:lstStyle/>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Speaking is faster than typing</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More accessible for all users</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Feels more human</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Enables hands-free support</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Better for mobile users</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Matches real call-center flow</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Improves customer trust</a:t>
            </a:r>
          </a:p>
          <a:p>
            <a:endParaRPr lang="en-IN" dirty="0"/>
          </a:p>
        </p:txBody>
      </p:sp>
      <p:sp>
        <p:nvSpPr>
          <p:cNvPr id="4" name="Content Placeholder 3">
            <a:extLst>
              <a:ext uri="{FF2B5EF4-FFF2-40B4-BE49-F238E27FC236}">
                <a16:creationId xmlns:a16="http://schemas.microsoft.com/office/drawing/2014/main" id="{711D5EB5-7EEC-E1D6-9309-FE9BDEFAC7BE}"/>
              </a:ext>
            </a:extLst>
          </p:cNvPr>
          <p:cNvSpPr>
            <a:spLocks noGrp="1"/>
          </p:cNvSpPr>
          <p:nvPr>
            <p:ph sz="half" idx="2"/>
          </p:nvPr>
        </p:nvSpPr>
        <p:spPr/>
        <p:txBody>
          <a:bodyPr/>
          <a:lstStyle/>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Real-time AI voice assistant</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Users speak through browser</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AI understands queries</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Fetches backend data</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Responds with natural speech</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Supports orders, products, returns</a:t>
            </a:r>
          </a:p>
          <a:p>
            <a:pPr marL="0" lvl="0" indent="0" eaLnBrk="0" fontAlgn="base" hangingPunct="0">
              <a:lnSpc>
                <a:spcPct val="100000"/>
              </a:lnSpc>
              <a:spcBef>
                <a:spcPct val="0"/>
              </a:spcBef>
              <a:spcAft>
                <a:spcPct val="0"/>
              </a:spcAft>
              <a:buFontTx/>
              <a:buChar char="•"/>
            </a:pPr>
            <a:r>
              <a:rPr lang="en-US" altLang="en-US" dirty="0">
                <a:solidFill>
                  <a:schemeClr val="tx1"/>
                </a:solidFill>
                <a:latin typeface="Franklin Gothic Medium" panose="020B0603020102020204" pitchFamily="34" charset="0"/>
              </a:rPr>
              <a:t>Designed like a virtual agent</a:t>
            </a:r>
          </a:p>
          <a:p>
            <a:endParaRPr lang="en-IN" dirty="0"/>
          </a:p>
        </p:txBody>
      </p:sp>
      <p:sp>
        <p:nvSpPr>
          <p:cNvPr id="5" name="Title 1">
            <a:extLst>
              <a:ext uri="{FF2B5EF4-FFF2-40B4-BE49-F238E27FC236}">
                <a16:creationId xmlns:a16="http://schemas.microsoft.com/office/drawing/2014/main" id="{4E37F969-FA84-DA29-EF66-4EF9F2596E65}"/>
              </a:ext>
            </a:extLst>
          </p:cNvPr>
          <p:cNvSpPr txBox="1">
            <a:spLocks/>
          </p:cNvSpPr>
          <p:nvPr/>
        </p:nvSpPr>
        <p:spPr>
          <a:xfrm>
            <a:off x="6019798" y="323817"/>
            <a:ext cx="5340919" cy="122657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IN" sz="3000" dirty="0"/>
              <a:t>🧭 4. Proposed E-Commerce Voicebot Solution</a:t>
            </a:r>
          </a:p>
        </p:txBody>
      </p:sp>
    </p:spTree>
    <p:extLst>
      <p:ext uri="{BB962C8B-B14F-4D97-AF65-F5344CB8AC3E}">
        <p14:creationId xmlns:p14="http://schemas.microsoft.com/office/powerpoint/2010/main" val="2036247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7775C75D-16EC-08A0-1635-2B7E9206975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0"/>
            <a:ext cx="12192000" cy="6155871"/>
          </a:xfrm>
        </p:spPr>
      </p:pic>
      <p:sp>
        <p:nvSpPr>
          <p:cNvPr id="5" name="Title 1">
            <a:extLst>
              <a:ext uri="{FF2B5EF4-FFF2-40B4-BE49-F238E27FC236}">
                <a16:creationId xmlns:a16="http://schemas.microsoft.com/office/drawing/2014/main" id="{805F7780-B33B-7ADA-E810-511438B730F5}"/>
              </a:ext>
            </a:extLst>
          </p:cNvPr>
          <p:cNvSpPr txBox="1">
            <a:spLocks/>
          </p:cNvSpPr>
          <p:nvPr/>
        </p:nvSpPr>
        <p:spPr>
          <a:xfrm>
            <a:off x="678884" y="1551214"/>
            <a:ext cx="10834234" cy="440871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endParaRPr lang="en-IN" sz="3600" dirty="0"/>
          </a:p>
        </p:txBody>
      </p:sp>
    </p:spTree>
    <p:extLst>
      <p:ext uri="{BB962C8B-B14F-4D97-AF65-F5344CB8AC3E}">
        <p14:creationId xmlns:p14="http://schemas.microsoft.com/office/powerpoint/2010/main" val="1707597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9C55-AC20-CBBE-3DC0-5211345E3FD4}"/>
              </a:ext>
            </a:extLst>
          </p:cNvPr>
          <p:cNvSpPr>
            <a:spLocks noGrp="1"/>
          </p:cNvSpPr>
          <p:nvPr>
            <p:ph type="title"/>
          </p:nvPr>
        </p:nvSpPr>
        <p:spPr>
          <a:xfrm>
            <a:off x="678880" y="492335"/>
            <a:ext cx="5340919" cy="928251"/>
          </a:xfrm>
        </p:spPr>
        <p:txBody>
          <a:bodyPr>
            <a:normAutofit/>
          </a:bodyPr>
          <a:lstStyle/>
          <a:p>
            <a:pPr algn="ctr"/>
            <a:r>
              <a:rPr lang="en-US" sz="2800" dirty="0"/>
              <a:t>🧭 5. Real-Time Audio &amp; WebRTC (LiveKit)</a:t>
            </a:r>
            <a:endParaRPr lang="en-IN" sz="2800" dirty="0"/>
          </a:p>
        </p:txBody>
      </p:sp>
      <p:sp>
        <p:nvSpPr>
          <p:cNvPr id="6" name="Title 1">
            <a:extLst>
              <a:ext uri="{FF2B5EF4-FFF2-40B4-BE49-F238E27FC236}">
                <a16:creationId xmlns:a16="http://schemas.microsoft.com/office/drawing/2014/main" id="{2D49CF88-DA67-231C-8142-CE7E16C2E07C}"/>
              </a:ext>
            </a:extLst>
          </p:cNvPr>
          <p:cNvSpPr txBox="1">
            <a:spLocks/>
          </p:cNvSpPr>
          <p:nvPr/>
        </p:nvSpPr>
        <p:spPr>
          <a:xfrm>
            <a:off x="6019799" y="492335"/>
            <a:ext cx="5340919" cy="928251"/>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US" sz="2800" dirty="0"/>
              <a:t>🧭 6. AI Reasoning Layer (GPT-4o Realtime)</a:t>
            </a:r>
            <a:endParaRPr lang="en-IN" sz="2800" dirty="0"/>
          </a:p>
        </p:txBody>
      </p:sp>
      <p:sp>
        <p:nvSpPr>
          <p:cNvPr id="7" name="Rectangle 1">
            <a:extLst>
              <a:ext uri="{FF2B5EF4-FFF2-40B4-BE49-F238E27FC236}">
                <a16:creationId xmlns:a16="http://schemas.microsoft.com/office/drawing/2014/main" id="{B12AD800-0F3E-BB3A-6EF5-B193FF64C8E6}"/>
              </a:ext>
            </a:extLst>
          </p:cNvPr>
          <p:cNvSpPr>
            <a:spLocks noGrp="1" noChangeArrowheads="1"/>
          </p:cNvSpPr>
          <p:nvPr>
            <p:ph sz="half" idx="1"/>
          </p:nvPr>
        </p:nvSpPr>
        <p:spPr bwMode="auto">
          <a:xfrm>
            <a:off x="678880" y="1903648"/>
            <a:ext cx="478207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LiveKit uses WebRTC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Enables low-latency voice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Same tech as Zoom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Streams audio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Works in browsers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Connects users to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Supports scalable calls</a:t>
            </a:r>
          </a:p>
        </p:txBody>
      </p:sp>
      <p:sp>
        <p:nvSpPr>
          <p:cNvPr id="8" name="Rectangle 2">
            <a:extLst>
              <a:ext uri="{FF2B5EF4-FFF2-40B4-BE49-F238E27FC236}">
                <a16:creationId xmlns:a16="http://schemas.microsoft.com/office/drawing/2014/main" id="{BB2BEA90-4772-0C44-D57E-CD936299C08A}"/>
              </a:ext>
            </a:extLst>
          </p:cNvPr>
          <p:cNvSpPr>
            <a:spLocks noGrp="1" noChangeArrowheads="1"/>
          </p:cNvSpPr>
          <p:nvPr>
            <p:ph sz="half" idx="2"/>
          </p:nvPr>
        </p:nvSpPr>
        <p:spPr bwMode="auto">
          <a:xfrm>
            <a:off x="6353913" y="1903648"/>
            <a:ext cx="467268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Converts speech to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Understands user intent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Applies system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Calls tools when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Builds correct response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Converts text to voice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Handles entire AI pipeline</a:t>
            </a:r>
          </a:p>
        </p:txBody>
      </p:sp>
    </p:spTree>
    <p:extLst>
      <p:ext uri="{BB962C8B-B14F-4D97-AF65-F5344CB8AC3E}">
        <p14:creationId xmlns:p14="http://schemas.microsoft.com/office/powerpoint/2010/main" val="2669104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39014-22D0-F6D6-B67D-079C1B8F5F83}"/>
              </a:ext>
            </a:extLst>
          </p:cNvPr>
          <p:cNvSpPr>
            <a:spLocks noGrp="1"/>
          </p:cNvSpPr>
          <p:nvPr>
            <p:ph type="title"/>
          </p:nvPr>
        </p:nvSpPr>
        <p:spPr>
          <a:xfrm>
            <a:off x="678881" y="310243"/>
            <a:ext cx="5340919" cy="1028699"/>
          </a:xfrm>
        </p:spPr>
        <p:txBody>
          <a:bodyPr>
            <a:normAutofit/>
          </a:bodyPr>
          <a:lstStyle/>
          <a:p>
            <a:pPr algn="ctr"/>
            <a:r>
              <a:rPr lang="en-US" sz="3200" dirty="0"/>
              <a:t>🧭 7. Tool-Based RAG using MCP</a:t>
            </a:r>
            <a:endParaRPr lang="en-IN" sz="3200" dirty="0"/>
          </a:p>
        </p:txBody>
      </p:sp>
      <p:sp>
        <p:nvSpPr>
          <p:cNvPr id="5" name="Rectangle 1">
            <a:extLst>
              <a:ext uri="{FF2B5EF4-FFF2-40B4-BE49-F238E27FC236}">
                <a16:creationId xmlns:a16="http://schemas.microsoft.com/office/drawing/2014/main" id="{5B3A8620-F854-DB2B-4C18-1F9A32817E09}"/>
              </a:ext>
            </a:extLst>
          </p:cNvPr>
          <p:cNvSpPr>
            <a:spLocks noGrp="1" noChangeArrowheads="1"/>
          </p:cNvSpPr>
          <p:nvPr>
            <p:ph sz="half" idx="1"/>
          </p:nvPr>
        </p:nvSpPr>
        <p:spPr bwMode="auto">
          <a:xfrm>
            <a:off x="678881" y="1659835"/>
            <a:ext cx="499688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AI does not guess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Calls MCP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Reads CSV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Gets order and product info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Uses real business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Prevents hallucinations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Ensures accuracy</a:t>
            </a:r>
          </a:p>
        </p:txBody>
      </p:sp>
      <p:sp>
        <p:nvSpPr>
          <p:cNvPr id="6" name="Title 1">
            <a:extLst>
              <a:ext uri="{FF2B5EF4-FFF2-40B4-BE49-F238E27FC236}">
                <a16:creationId xmlns:a16="http://schemas.microsoft.com/office/drawing/2014/main" id="{09758448-37F6-CF2B-825B-F2207F30DA39}"/>
              </a:ext>
            </a:extLst>
          </p:cNvPr>
          <p:cNvSpPr txBox="1">
            <a:spLocks/>
          </p:cNvSpPr>
          <p:nvPr/>
        </p:nvSpPr>
        <p:spPr>
          <a:xfrm>
            <a:off x="6019800" y="310243"/>
            <a:ext cx="5340919" cy="1159328"/>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US" sz="3200" dirty="0"/>
              <a:t>🧭 8. Safety, Reliability &amp; User Experience</a:t>
            </a:r>
            <a:endParaRPr lang="en-IN" sz="3200" dirty="0"/>
          </a:p>
        </p:txBody>
      </p:sp>
      <p:sp>
        <p:nvSpPr>
          <p:cNvPr id="7" name="Rectangle 2">
            <a:extLst>
              <a:ext uri="{FF2B5EF4-FFF2-40B4-BE49-F238E27FC236}">
                <a16:creationId xmlns:a16="http://schemas.microsoft.com/office/drawing/2014/main" id="{E67CF915-6A3B-8BA4-A8DE-14340F35A0B7}"/>
              </a:ext>
            </a:extLst>
          </p:cNvPr>
          <p:cNvSpPr>
            <a:spLocks noGrp="1" noChangeArrowheads="1"/>
          </p:cNvSpPr>
          <p:nvPr>
            <p:ph sz="half" idx="2"/>
          </p:nvPr>
        </p:nvSpPr>
        <p:spPr bwMode="auto">
          <a:xfrm>
            <a:off x="6155562" y="1659834"/>
            <a:ext cx="535755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Requires valid IDs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No payments or cancellations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Explains missing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Polite voice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No fake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Clear limitations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Franklin Gothic Medium" panose="020B0603020102020204" pitchFamily="34" charset="0"/>
              </a:rPr>
              <a:t>Builds customer trust</a:t>
            </a:r>
          </a:p>
        </p:txBody>
      </p:sp>
    </p:spTree>
    <p:extLst>
      <p:ext uri="{BB962C8B-B14F-4D97-AF65-F5344CB8AC3E}">
        <p14:creationId xmlns:p14="http://schemas.microsoft.com/office/powerpoint/2010/main" val="3623545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C180B-A3A9-766D-8AEE-3A6355225DD6}"/>
              </a:ext>
            </a:extLst>
          </p:cNvPr>
          <p:cNvSpPr>
            <a:spLocks noGrp="1"/>
          </p:cNvSpPr>
          <p:nvPr>
            <p:ph type="title"/>
          </p:nvPr>
        </p:nvSpPr>
        <p:spPr>
          <a:xfrm>
            <a:off x="678881" y="326572"/>
            <a:ext cx="5417119" cy="889870"/>
          </a:xfrm>
        </p:spPr>
        <p:txBody>
          <a:bodyPr>
            <a:normAutofit/>
          </a:bodyPr>
          <a:lstStyle/>
          <a:p>
            <a:pPr algn="ctr"/>
            <a:r>
              <a:rPr lang="en-US" sz="3200" dirty="0"/>
              <a:t>🧭 9. Limitations of the Current System</a:t>
            </a:r>
            <a:endParaRPr lang="en-IN" sz="3200" dirty="0"/>
          </a:p>
        </p:txBody>
      </p:sp>
      <p:sp>
        <p:nvSpPr>
          <p:cNvPr id="3" name="Content Placeholder 2">
            <a:extLst>
              <a:ext uri="{FF2B5EF4-FFF2-40B4-BE49-F238E27FC236}">
                <a16:creationId xmlns:a16="http://schemas.microsoft.com/office/drawing/2014/main" id="{5F6F3C4B-680C-84B1-B5EC-1131E7AAB5F8}"/>
              </a:ext>
            </a:extLst>
          </p:cNvPr>
          <p:cNvSpPr>
            <a:spLocks noGrp="1"/>
          </p:cNvSpPr>
          <p:nvPr>
            <p:ph sz="half" idx="1"/>
          </p:nvPr>
        </p:nvSpPr>
        <p:spPr/>
        <p:txBody>
          <a:bodyPr/>
          <a:lstStyle/>
          <a:p>
            <a:r>
              <a:rPr lang="en-US" sz="3300" dirty="0">
                <a:latin typeface="Franklin Gothic Medium" panose="020B0603020102020204" pitchFamily="34" charset="0"/>
              </a:rPr>
              <a:t>No login system</a:t>
            </a:r>
          </a:p>
          <a:p>
            <a:r>
              <a:rPr lang="en-US" sz="3300" dirty="0">
                <a:latin typeface="Franklin Gothic Medium" panose="020B0603020102020204" pitchFamily="34" charset="0"/>
              </a:rPr>
              <a:t>Data stored in CSV</a:t>
            </a:r>
          </a:p>
          <a:p>
            <a:r>
              <a:rPr lang="en-US" sz="3300" dirty="0">
                <a:latin typeface="Franklin Gothic Medium" panose="020B0603020102020204" pitchFamily="34" charset="0"/>
              </a:rPr>
              <a:t>No real payment gateway</a:t>
            </a:r>
          </a:p>
          <a:p>
            <a:r>
              <a:rPr lang="en-US" sz="3300" dirty="0">
                <a:latin typeface="Franklin Gothic Medium" panose="020B0603020102020204" pitchFamily="34" charset="0"/>
              </a:rPr>
              <a:t>English only</a:t>
            </a:r>
          </a:p>
          <a:p>
            <a:r>
              <a:rPr lang="en-US" sz="3300" dirty="0">
                <a:latin typeface="Franklin Gothic Medium" panose="020B0603020102020204" pitchFamily="34" charset="0"/>
              </a:rPr>
              <a:t>Prototype environment</a:t>
            </a:r>
          </a:p>
          <a:p>
            <a:r>
              <a:rPr lang="en-US" sz="3300" dirty="0">
                <a:latin typeface="Franklin Gothic Medium" panose="020B0603020102020204" pitchFamily="34" charset="0"/>
              </a:rPr>
              <a:t>Limited scalability</a:t>
            </a:r>
          </a:p>
          <a:p>
            <a:r>
              <a:rPr lang="en-US" sz="3300" dirty="0">
                <a:latin typeface="Franklin Gothic Medium" panose="020B0603020102020204" pitchFamily="34" charset="0"/>
              </a:rPr>
              <a:t>Mock data only</a:t>
            </a:r>
          </a:p>
          <a:p>
            <a:endParaRPr lang="en-IN" dirty="0"/>
          </a:p>
        </p:txBody>
      </p:sp>
      <p:sp>
        <p:nvSpPr>
          <p:cNvPr id="5" name="Title 1">
            <a:extLst>
              <a:ext uri="{FF2B5EF4-FFF2-40B4-BE49-F238E27FC236}">
                <a16:creationId xmlns:a16="http://schemas.microsoft.com/office/drawing/2014/main" id="{5406CED2-BDBB-5661-09BA-03568F236868}"/>
              </a:ext>
            </a:extLst>
          </p:cNvPr>
          <p:cNvSpPr txBox="1">
            <a:spLocks/>
          </p:cNvSpPr>
          <p:nvPr/>
        </p:nvSpPr>
        <p:spPr>
          <a:xfrm>
            <a:off x="6019800" y="353788"/>
            <a:ext cx="5417119" cy="88987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US" sz="3200" dirty="0"/>
              <a:t>🧭 10. Business Relevance &amp; Impact</a:t>
            </a:r>
            <a:endParaRPr lang="en-IN" sz="3200" dirty="0"/>
          </a:p>
        </p:txBody>
      </p:sp>
      <p:sp>
        <p:nvSpPr>
          <p:cNvPr id="7" name="Rectangle 2">
            <a:extLst>
              <a:ext uri="{FF2B5EF4-FFF2-40B4-BE49-F238E27FC236}">
                <a16:creationId xmlns:a16="http://schemas.microsoft.com/office/drawing/2014/main" id="{9967BFC8-EC67-EEF4-B7E3-CF00089435F0}"/>
              </a:ext>
            </a:extLst>
          </p:cNvPr>
          <p:cNvSpPr>
            <a:spLocks noGrp="1" noChangeArrowheads="1"/>
          </p:cNvSpPr>
          <p:nvPr>
            <p:ph sz="half" idx="2"/>
          </p:nvPr>
        </p:nvSpPr>
        <p:spPr bwMode="auto">
          <a:xfrm>
            <a:off x="6172202" y="1659835"/>
            <a:ext cx="5764720"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Reduces support costs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Handles large call volume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Improves customer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Always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Fast response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Scalable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Suitable for e-commerce</a:t>
            </a:r>
          </a:p>
        </p:txBody>
      </p:sp>
    </p:spTree>
    <p:extLst>
      <p:ext uri="{BB962C8B-B14F-4D97-AF65-F5344CB8AC3E}">
        <p14:creationId xmlns:p14="http://schemas.microsoft.com/office/powerpoint/2010/main" val="4157551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2" y="310244"/>
            <a:ext cx="6687118" cy="906198"/>
          </a:xfrm>
        </p:spPr>
        <p:txBody>
          <a:bodyPr>
            <a:normAutofit/>
          </a:bodyPr>
          <a:lstStyle/>
          <a:p>
            <a:r>
              <a:rPr lang="en-US" dirty="0"/>
              <a:t>🧭 11. Conclusion &amp; Key Takeaways</a:t>
            </a:r>
          </a:p>
        </p:txBody>
      </p:sp>
      <p:sp>
        <p:nvSpPr>
          <p:cNvPr id="3" name="Rectangle 1">
            <a:extLst>
              <a:ext uri="{FF2B5EF4-FFF2-40B4-BE49-F238E27FC236}">
                <a16:creationId xmlns:a16="http://schemas.microsoft.com/office/drawing/2014/main" id="{7528C2FF-BB60-71E4-4D94-F11EB76C4895}"/>
              </a:ext>
            </a:extLst>
          </p:cNvPr>
          <p:cNvSpPr>
            <a:spLocks noGrp="1" noChangeArrowheads="1"/>
          </p:cNvSpPr>
          <p:nvPr>
            <p:ph idx="1"/>
          </p:nvPr>
        </p:nvSpPr>
        <p:spPr bwMode="auto">
          <a:xfrm>
            <a:off x="678882" y="1659285"/>
            <a:ext cx="533832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Built real-time voice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Uses WebRTC and LiveKit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Uses GPT-4o and MCP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Accurate and safe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Meets Boston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Production-style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100" b="0" i="0" u="none" strike="noStrike" cap="none" normalizeH="0" baseline="0" dirty="0">
                <a:ln>
                  <a:noFill/>
                </a:ln>
                <a:solidFill>
                  <a:schemeClr val="tx1"/>
                </a:solidFill>
                <a:effectLst/>
                <a:latin typeface="Franklin Gothic Medium" panose="020B0603020102020204" pitchFamily="34" charset="0"/>
              </a:rPr>
              <a:t>Ready to scale</a:t>
            </a:r>
          </a:p>
        </p:txBody>
      </p:sp>
    </p:spTree>
    <p:extLst>
      <p:ext uri="{BB962C8B-B14F-4D97-AF65-F5344CB8AC3E}">
        <p14:creationId xmlns:p14="http://schemas.microsoft.com/office/powerpoint/2010/main" val="2845992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orient="vert"/>
          </p:nvPr>
        </p:nvSpPr>
        <p:spPr>
          <a:xfrm rot="16200000">
            <a:off x="5288640" y="-2316839"/>
            <a:ext cx="2256985" cy="8850089"/>
          </a:xfrm>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7226</TotalTime>
  <Words>464</Words>
  <Application>Microsoft Office PowerPoint</Application>
  <PresentationFormat>Widescreen</PresentationFormat>
  <Paragraphs>104</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Franklin Gothic Medium</vt:lpstr>
      <vt:lpstr>BIA Template</vt:lpstr>
      <vt:lpstr>PowerPoint Presentation</vt:lpstr>
      <vt:lpstr>🧭 Presentation Agenda</vt:lpstr>
      <vt:lpstr>🧭 1. Introduction &amp; Project Motivation</vt:lpstr>
      <vt:lpstr>🧭 2. Problem Statement in E-Commerce Support</vt:lpstr>
      <vt:lpstr>🧭 3. Why Voice-Based AI Systems</vt:lpstr>
      <vt:lpstr>PowerPoint Presentation</vt:lpstr>
      <vt:lpstr>🧭 5. Real-Time Audio &amp; WebRTC (LiveKit)</vt:lpstr>
      <vt:lpstr>🧭 7. Tool-Based RAG using MCP</vt:lpstr>
      <vt:lpstr>🧭 9. Limitations of the Current System</vt:lpstr>
      <vt:lpstr>🧭 11. Conclusion &amp; Key Takeaways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Mokshagna PB</cp:lastModifiedBy>
  <cp:revision>2280</cp:revision>
  <dcterms:created xsi:type="dcterms:W3CDTF">2020-12-23T13:36:00Z</dcterms:created>
  <dcterms:modified xsi:type="dcterms:W3CDTF">2026-01-13T13:44:17Z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